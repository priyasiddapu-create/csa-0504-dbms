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6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032" autoAdjust="0"/>
    <p:restoredTop sz="94660"/>
  </p:normalViewPr>
  <p:slideViewPr>
    <p:cSldViewPr snapToGrid="0">
      <p:cViewPr varScale="1">
        <p:scale>
          <a:sx n="75" d="100"/>
          <a:sy n="75" d="100"/>
        </p:scale>
        <p:origin x="43" y="3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iya yadav" userId="355f86fe1ddc0f5d" providerId="LiveId" clId="{412C2972-1147-4A08-BE72-F8DDBA41C100}"/>
    <pc:docChg chg="modSld">
      <pc:chgData name="priya yadav" userId="355f86fe1ddc0f5d" providerId="LiveId" clId="{412C2972-1147-4A08-BE72-F8DDBA41C100}" dt="2026-07-21T14:53:40.054" v="56" actId="255"/>
      <pc:docMkLst>
        <pc:docMk/>
      </pc:docMkLst>
      <pc:sldChg chg="modSp mod">
        <pc:chgData name="priya yadav" userId="355f86fe1ddc0f5d" providerId="LiveId" clId="{412C2972-1147-4A08-BE72-F8DDBA41C100}" dt="2026-07-21T14:53:40.054" v="56" actId="255"/>
        <pc:sldMkLst>
          <pc:docMk/>
          <pc:sldMk cId="941703715" sldId="256"/>
        </pc:sldMkLst>
        <pc:spChg chg="mod">
          <ac:chgData name="priya yadav" userId="355f86fe1ddc0f5d" providerId="LiveId" clId="{412C2972-1147-4A08-BE72-F8DDBA41C100}" dt="2026-07-21T14:53:40.054" v="56" actId="255"/>
          <ac:spMkLst>
            <pc:docMk/>
            <pc:sldMk cId="941703715" sldId="256"/>
            <ac:spMk id="3" creationId="{7E6A180E-55AF-80A2-892F-0C495010617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BE853-33F2-95AB-7B56-972EC19951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5F8004-B828-495F-0401-B98A4DA931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AD190C-90DF-3826-1177-4899E03189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CA1F7-0869-40D5-84D8-C936C766E9F1}" type="datetimeFigureOut">
              <a:rPr lang="en-IN" smtClean="0"/>
              <a:t>21-07-2026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56EBD-FCBF-02B7-1112-6DE395001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8D4CE8-1E13-AE7B-D5F5-9378F5B03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32A3B-77B6-4F12-8A49-CF638F05D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43878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D68FD-7482-B9A2-9985-D3CB7CA001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230DF6-C526-00AD-7893-404403DAE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6FCA7F-4134-142C-80D1-21F73DBF0D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CA1F7-0869-40D5-84D8-C936C766E9F1}" type="datetimeFigureOut">
              <a:rPr lang="en-IN" smtClean="0"/>
              <a:t>21-07-2026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767165-632F-EFC4-AAA8-5B16262FE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7FA7CA-DCA2-5EE1-3D24-F41FD6BDF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32A3B-77B6-4F12-8A49-CF638F05D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124943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8E1A6-7AD0-BA50-AAEA-D6563B93D5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E9FA42-4294-2905-B108-2B5F21A3E8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220592-61BA-6974-BF08-985C43C044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CA1F7-0869-40D5-84D8-C936C766E9F1}" type="datetimeFigureOut">
              <a:rPr lang="en-IN" smtClean="0"/>
              <a:t>21-07-2026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DF1071-20A8-6E5F-DF32-7ABF31CABD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27FC5-1303-AFCD-6738-30E65802DA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32A3B-77B6-4F12-8A49-CF638F05D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7019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0B57F-0898-F97E-18A1-64ECA5A12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EB0A6-1F31-C8C5-EE04-0661C40F94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C89686-4428-A2CD-ECBE-A207747234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0F3E5B-AA22-A039-A96E-5983FA1AF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CA1F7-0869-40D5-84D8-C936C766E9F1}" type="datetimeFigureOut">
              <a:rPr lang="en-IN" smtClean="0"/>
              <a:t>21-07-2026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5CD16-0E14-82DA-6B76-C8ECF27C24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4A6A45-29EC-E5EF-143F-4402D526B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32A3B-77B6-4F12-8A49-CF638F05D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830314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1B627B-937A-7D33-9BD9-B0891EA86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C61655-A0B9-6E5C-B4C5-6C406A4751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BE8705-5AFF-BEF6-CB81-9042CDF09F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47D5D8-D4A0-3287-3AF2-979C36739B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1FC6A0-D24D-1610-27FE-4F92623F9A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97CE60-BEE0-73D5-4BD3-A2D65340F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CA1F7-0869-40D5-84D8-C936C766E9F1}" type="datetimeFigureOut">
              <a:rPr lang="en-IN" smtClean="0"/>
              <a:t>21-07-2026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36D6B27-210F-B98F-7FA5-D11A147371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DEF0B3-DDA9-E030-EDE0-2DB624E3C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32A3B-77B6-4F12-8A49-CF638F05D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0958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4419E-5C1F-5722-D039-79E0F3638D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F200BA-36BE-F0C6-0D82-91121C9A0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CA1F7-0869-40D5-84D8-C936C766E9F1}" type="datetimeFigureOut">
              <a:rPr lang="en-IN" smtClean="0"/>
              <a:t>21-07-2026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F1C6DB-73F5-6EE1-88DA-3651ACAD5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7EFA2C-E448-9E38-33C7-706346A7E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32A3B-77B6-4F12-8A49-CF638F05D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905713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47AF8D-9F5D-5EC3-E3F4-FBCC01568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CA1F7-0869-40D5-84D8-C936C766E9F1}" type="datetimeFigureOut">
              <a:rPr lang="en-IN" smtClean="0"/>
              <a:t>21-07-2026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0D04B7-F9A2-B0DA-3E73-D61711F7B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2F74CF-4BAD-00D9-0FA8-73D5722FC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32A3B-77B6-4F12-8A49-CF638F05D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199634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12EAD-CE3B-D05D-4B99-9AA8E7E4D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F8B90-C29A-9DF0-A6B5-B39EBB41CA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ADBE6B-1CB1-BEA2-0506-053B7B4E66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956017-AC03-7523-2274-3C86A706B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CA1F7-0869-40D5-84D8-C936C766E9F1}" type="datetimeFigureOut">
              <a:rPr lang="en-IN" smtClean="0"/>
              <a:t>21-07-2026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3C7130-E39D-E85D-6444-E48E1E53E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5217B-DD1E-F087-B3A8-7B022AB8A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32A3B-77B6-4F12-8A49-CF638F05D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2822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BEC9-0BF7-0A34-72E9-35EEDFCF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011431-4454-9F9C-FC3E-2164AECC98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C94C60-02F6-8B04-AED1-162061DFDE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741712-8CE1-4EA4-C8C4-29778B9DF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CA1F7-0869-40D5-84D8-C936C766E9F1}" type="datetimeFigureOut">
              <a:rPr lang="en-IN" smtClean="0"/>
              <a:t>21-07-2026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6A6E77-AF6D-6305-E6BE-DEEFB1C70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8A8AA0-06D7-093C-C46A-82342B28B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32A3B-77B6-4F12-8A49-CF638F05D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0074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CBB38-8663-1CBE-AA24-6D574A2BA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D349B5-C45B-CB94-D026-FEE460103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D440DD-9196-BACF-ACBE-699BEDC57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CA1F7-0869-40D5-84D8-C936C766E9F1}" type="datetimeFigureOut">
              <a:rPr lang="en-IN" smtClean="0"/>
              <a:t>21-07-2026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5F220-76E1-FC6D-68F9-34BF3EDEB1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13D8CB-8663-7311-ED0A-375D249DA3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32A3B-77B6-4F12-8A49-CF638F05D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0247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34252F-AA2E-B9E8-75A5-58BBF276E4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787D81-6714-AFA7-AA1B-BCBA9E1355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BF025-D3FD-B1B9-F59E-8B0396663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CA1F7-0869-40D5-84D8-C936C766E9F1}" type="datetimeFigureOut">
              <a:rPr lang="en-IN" smtClean="0"/>
              <a:t>21-07-2026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9B53-9FCF-8E50-A73C-6EF49D54F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28170-E7BA-FE7B-3D83-C637498A4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32A3B-77B6-4F12-8A49-CF638F05D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31279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7CA1F7-0869-40D5-84D8-C936C766E9F1}" type="datetimeFigureOut">
              <a:rPr lang="en-IN" smtClean="0"/>
              <a:t>21-07-2026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32A3B-77B6-4F12-8A49-CF638F05D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10707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99D58A-DD1C-5AD8-1061-136E0A515B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AB30E5-2747-CE0A-3A2B-B363D45E1C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FA1B12-3582-B1B2-D503-B2A0F5F0F2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7CA1F7-0869-40D5-84D8-C936C766E9F1}" type="datetimeFigureOut">
              <a:rPr lang="en-IN" smtClean="0"/>
              <a:t>21-07-2026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40002-75AD-D145-8A4E-1EDC572191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47CA45-C8BD-1908-4998-6E775CCAD7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732A3B-77B6-4F12-8A49-CF638F05D65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2834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jpeg"/><Relationship Id="rId7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circuitdigest.com/" TargetMode="External"/><Relationship Id="rId3" Type="http://schemas.openxmlformats.org/officeDocument/2006/relationships/image" Target="../media/image3.jpeg"/><Relationship Id="rId7" Type="http://schemas.openxmlformats.org/officeDocument/2006/relationships/hyperlink" Target="https://components101.com/sensors/ultrasonic-sensor-working-pinout-datasheet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ieeexplore.ieee.org/" TargetMode="External"/><Relationship Id="rId5" Type="http://schemas.openxmlformats.org/officeDocument/2006/relationships/hyperlink" Target="https://dev.mysql.com/doc/" TargetMode="External"/><Relationship Id="rId4" Type="http://schemas.openxmlformats.org/officeDocument/2006/relationships/hyperlink" Target="https://docs.arduino.cc/" TargetMode="External"/><Relationship Id="rId9" Type="http://schemas.openxmlformats.org/officeDocument/2006/relationships/hyperlink" Target="https://www.electronicshub.org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E6A180E-55AF-80A2-892F-0C49501061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58529" y="2634423"/>
            <a:ext cx="9025141" cy="403123"/>
          </a:xfrm>
        </p:spPr>
        <p:txBody>
          <a:bodyPr>
            <a:noAutofit/>
          </a:bodyPr>
          <a:lstStyle/>
          <a:p>
            <a:r>
              <a:rPr lang="en-IN" sz="3200" dirty="0">
                <a:solidFill>
                  <a:srgbClr val="0070C0"/>
                </a:solidFill>
                <a:latin typeface="Algerian" panose="04020705040A02060702" pitchFamily="82" charset="0"/>
                <a:cs typeface="Times New Roman" panose="02020603050405020304" pitchFamily="18" charset="0"/>
              </a:rPr>
              <a:t>Water Tank Monitoring System Using </a:t>
            </a:r>
            <a:r>
              <a:rPr lang="en-IN" sz="3200" dirty="0" err="1">
                <a:solidFill>
                  <a:srgbClr val="0070C0"/>
                </a:solidFill>
                <a:latin typeface="Algerian" panose="04020705040A02060702" pitchFamily="82" charset="0"/>
                <a:cs typeface="Times New Roman" panose="02020603050405020304" pitchFamily="18" charset="0"/>
              </a:rPr>
              <a:t>sql</a:t>
            </a:r>
            <a:r>
              <a:rPr lang="en-IN" sz="3200" dirty="0">
                <a:solidFill>
                  <a:srgbClr val="0070C0"/>
                </a:solidFill>
                <a:latin typeface="Algerian" panose="04020705040A02060702" pitchFamily="82" charset="0"/>
                <a:cs typeface="Times New Roman" panose="02020603050405020304" pitchFamily="18" charset="0"/>
              </a:rPr>
              <a:t> triggers constraints and relational schema</a:t>
            </a:r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AABEE2E2-DA46-C42C-DFE6-F6F2DDDD9CC4}"/>
              </a:ext>
            </a:extLst>
          </p:cNvPr>
          <p:cNvSpPr/>
          <p:nvPr/>
        </p:nvSpPr>
        <p:spPr>
          <a:xfrm>
            <a:off x="122735" y="0"/>
            <a:ext cx="12069265" cy="1150374"/>
          </a:xfrm>
          <a:custGeom>
            <a:avLst/>
            <a:gdLst/>
            <a:ahLst/>
            <a:cxnLst/>
            <a:rect l="l" t="t" r="r" b="b"/>
            <a:pathLst>
              <a:path w="18288000" h="2153961">
                <a:moveTo>
                  <a:pt x="0" y="0"/>
                </a:moveTo>
                <a:lnTo>
                  <a:pt x="18288000" y="0"/>
                </a:lnTo>
                <a:lnTo>
                  <a:pt x="18288000" y="2153961"/>
                </a:lnTo>
                <a:lnTo>
                  <a:pt x="0" y="215396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240" b="-3012"/>
            </a:stretch>
          </a:blipFill>
        </p:spPr>
        <p:txBody>
          <a:bodyPr/>
          <a:lstStyle/>
          <a:p>
            <a:endParaRPr lang="en-IN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0C23AA-D460-32AB-264F-B6BC2412D2E4}"/>
              </a:ext>
            </a:extLst>
          </p:cNvPr>
          <p:cNvSpPr txBox="1"/>
          <p:nvPr/>
        </p:nvSpPr>
        <p:spPr>
          <a:xfrm>
            <a:off x="570272" y="4285386"/>
            <a:ext cx="5230761" cy="1620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</a:t>
            </a:r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 .HARIKA(192572140)</a:t>
            </a:r>
          </a:p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(CSE-AI DEP)</a:t>
            </a:r>
          </a:p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R.NIHARIKA(192511221)</a:t>
            </a:r>
          </a:p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lang="en-US" alt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(CSE  DEP)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F38827-65A7-33C4-8F8E-7E2699332CF6}"/>
              </a:ext>
            </a:extLst>
          </p:cNvPr>
          <p:cNvSpPr txBox="1"/>
          <p:nvPr/>
        </p:nvSpPr>
        <p:spPr>
          <a:xfrm>
            <a:off x="8357419" y="4350050"/>
            <a:ext cx="4137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GUIDED BY:</a:t>
            </a:r>
          </a:p>
          <a:p>
            <a:r>
              <a:rPr lang="en-US" altLang="en-US" sz="2000" dirty="0">
                <a:latin typeface="Calibri" panose="020F0502020204030204"/>
                <a:cs typeface="Calibri" panose="020F0502020204030204"/>
                <a:sym typeface="+mn-ea"/>
              </a:rPr>
              <a:t>DR .A.JAYA MABEL RANI</a:t>
            </a:r>
            <a:endParaRPr lang="en-IN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F9DD13-149D-F564-1B24-9AFED74F9B79}"/>
              </a:ext>
            </a:extLst>
          </p:cNvPr>
          <p:cNvSpPr txBox="1"/>
          <p:nvPr/>
        </p:nvSpPr>
        <p:spPr>
          <a:xfrm>
            <a:off x="2743200" y="1630788"/>
            <a:ext cx="9448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spc="-50" dirty="0">
                <a:solidFill>
                  <a:srgbClr val="FF0000"/>
                </a:solidFill>
              </a:rPr>
              <a:t>CSA0501-DATABASE MANAGEMENT SYSTEM</a:t>
            </a:r>
            <a:endParaRPr lang="en-IN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703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4E733-EEC3-D599-E617-6DA2EB784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6857" y="0"/>
            <a:ext cx="5614834" cy="1596177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INDEX</a:t>
            </a:r>
            <a:endParaRPr lang="en-IN" sz="4000" dirty="0"/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508D4F9E-7719-70C1-953F-206DD6AD1E72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82667B95-19DE-BC6F-4BB1-026C6E0ED4F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A532143-32F3-C5F9-D48C-5AFBD67D7CA5}"/>
              </a:ext>
            </a:extLst>
          </p:cNvPr>
          <p:cNvSpPr txBox="1"/>
          <p:nvPr/>
        </p:nvSpPr>
        <p:spPr>
          <a:xfrm>
            <a:off x="1462405" y="1229320"/>
            <a:ext cx="9115454" cy="59708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 </a:t>
            </a:r>
            <a:endParaRPr lang="en-IN" sz="2800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800" dirty="0"/>
              <a:t> ABSTRACT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800" dirty="0"/>
              <a:t> INTRODUCTION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800" dirty="0"/>
              <a:t> PROBLEM STATEMENT AND OBJECTIVES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800" dirty="0"/>
              <a:t> EXISTING SYSTEM AND PROPOSED SYSTEM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800" dirty="0"/>
              <a:t> METHODOLOGY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800" dirty="0"/>
              <a:t> MODULES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800" dirty="0"/>
              <a:t> RESULTS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800" dirty="0"/>
              <a:t> IEEE STANDARDS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800" dirty="0"/>
              <a:t> SDG CONTRIBUTION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800" dirty="0"/>
              <a:t> CONCLUSION 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n-IN" sz="2800" dirty="0"/>
              <a:t> REFERENCES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n-IN" sz="2800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824508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7ECEE-A1BB-59B3-100D-320157900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78712" y="-154616"/>
            <a:ext cx="10364451" cy="1596177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BE3859ED-0A3E-3C23-23B9-F9F83F45587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05F48570-9DEB-9221-D064-5D82B490E46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B4FB6F1-A8BE-9196-2A31-6C3AF9AEFF48}"/>
              </a:ext>
            </a:extLst>
          </p:cNvPr>
          <p:cNvSpPr txBox="1"/>
          <p:nvPr/>
        </p:nvSpPr>
        <p:spPr>
          <a:xfrm>
            <a:off x="1199535" y="1356852"/>
            <a:ext cx="10058400" cy="5247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IN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300" dirty="0"/>
              <a:t>A </a:t>
            </a:r>
            <a:r>
              <a:rPr lang="en-IN" sz="2300" b="1" dirty="0"/>
              <a:t>Water Tank Monitoring System</a:t>
            </a:r>
            <a:r>
              <a:rPr lang="en-IN" sz="2300" dirty="0"/>
              <a:t> is designed to automatically monitor the water level in a storage tank and control the water pump efficiently.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300" dirty="0"/>
              <a:t>The system uses an </a:t>
            </a:r>
            <a:r>
              <a:rPr lang="en-IN" sz="2300" b="1" dirty="0"/>
              <a:t>ultrasonic sensor</a:t>
            </a:r>
            <a:r>
              <a:rPr lang="en-IN" sz="2300" dirty="0"/>
              <a:t> to measure the water level and sends the data to an </a:t>
            </a:r>
            <a:r>
              <a:rPr lang="en-IN" sz="2300" b="1" dirty="0"/>
              <a:t>Arduino</a:t>
            </a:r>
            <a:r>
              <a:rPr lang="en-IN" sz="2300" dirty="0"/>
              <a:t> for processing. </a:t>
            </a:r>
          </a:p>
          <a:p>
            <a:r>
              <a:rPr lang="en-IN" sz="2300" b="1" dirty="0"/>
              <a:t> Purpose of the Project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300" dirty="0"/>
              <a:t>The Arduino automatically turns the </a:t>
            </a:r>
            <a:r>
              <a:rPr lang="en-IN" sz="2300" b="1" dirty="0"/>
              <a:t>water pump ON</a:t>
            </a:r>
            <a:r>
              <a:rPr lang="en-IN" sz="2300" dirty="0"/>
              <a:t> when the water level is low and </a:t>
            </a:r>
            <a:r>
              <a:rPr lang="en-IN" sz="2300" b="1" dirty="0"/>
              <a:t>OFF</a:t>
            </a:r>
            <a:r>
              <a:rPr lang="en-IN" sz="2300" dirty="0"/>
              <a:t> when the tank is full.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300" dirty="0"/>
              <a:t>Water level, pump status, date, and time are stored in a </a:t>
            </a:r>
            <a:r>
              <a:rPr lang="en-IN" sz="2300" b="1" dirty="0"/>
              <a:t>MySQL database</a:t>
            </a:r>
            <a:r>
              <a:rPr lang="en-IN" sz="2300" dirty="0"/>
              <a:t> for monitoring and analysis.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300" dirty="0"/>
              <a:t>The system helps </a:t>
            </a:r>
            <a:r>
              <a:rPr lang="en-IN" sz="2300" b="1" dirty="0"/>
              <a:t>prevent water overflow</a:t>
            </a:r>
            <a:r>
              <a:rPr lang="en-IN" sz="2300" dirty="0"/>
              <a:t>, </a:t>
            </a:r>
            <a:r>
              <a:rPr lang="en-IN" sz="2300" b="1" dirty="0"/>
              <a:t>avoid dry running of the pump</a:t>
            </a:r>
            <a:r>
              <a:rPr lang="en-IN" sz="2300" dirty="0"/>
              <a:t>, </a:t>
            </a:r>
            <a:r>
              <a:rPr lang="en-IN" sz="2300" b="1" dirty="0"/>
              <a:t>reduce water wastage</a:t>
            </a:r>
            <a:r>
              <a:rPr lang="en-IN" sz="2300" dirty="0"/>
              <a:t>, and </a:t>
            </a:r>
            <a:r>
              <a:rPr lang="en-IN" sz="2300" b="1" dirty="0"/>
              <a:t>minimize manual effort</a:t>
            </a:r>
            <a:r>
              <a:rPr lang="en-IN" sz="23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300" dirty="0"/>
              <a:t>It provides an efficient, reliable, and cost-effective solution for smart water management in homes, apartments, industries, and agricultural applications.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209612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A5078-DFB6-FDB0-D0D9-4174AB241F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8144" y="-34062"/>
            <a:ext cx="10364451" cy="1596177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90FE2949-8704-D5EE-BA8A-F52FC1B63D0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43E837DD-0175-3B09-DAB2-8EC217195336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E37FD01-5838-DA38-298C-991AD63BFDB0}"/>
              </a:ext>
            </a:extLst>
          </p:cNvPr>
          <p:cNvSpPr txBox="1"/>
          <p:nvPr/>
        </p:nvSpPr>
        <p:spPr>
          <a:xfrm>
            <a:off x="1356852" y="1562115"/>
            <a:ext cx="9202993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The </a:t>
            </a:r>
            <a:r>
              <a:rPr lang="en-IN" sz="2400" b="1" dirty="0"/>
              <a:t>Water Tank Monitoring System</a:t>
            </a:r>
            <a:r>
              <a:rPr lang="en-IN" sz="2400" dirty="0"/>
              <a:t> automatically monitors the water level using an </a:t>
            </a:r>
            <a:r>
              <a:rPr lang="en-IN" sz="2400" b="1" dirty="0"/>
              <a:t>Arduino</a:t>
            </a:r>
            <a:r>
              <a:rPr lang="en-IN" sz="2400" dirty="0"/>
              <a:t> and </a:t>
            </a:r>
            <a:r>
              <a:rPr lang="en-IN" sz="2400" b="1" dirty="0"/>
              <a:t>Ultrasonic Sensor</a:t>
            </a:r>
            <a:r>
              <a:rPr lang="en-IN" sz="24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It controls the </a:t>
            </a:r>
            <a:r>
              <a:rPr lang="en-IN" sz="2400" b="1" dirty="0"/>
              <a:t>water pump</a:t>
            </a:r>
            <a:r>
              <a:rPr lang="en-IN" sz="2400" dirty="0"/>
              <a:t> automatically to prevent overflow and water shortage. </a:t>
            </a:r>
          </a:p>
          <a:p>
            <a:r>
              <a:rPr lang="en-IN" sz="2400" b="1" dirty="0"/>
              <a:t>Importance: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Ensures efficient water management.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Prevents water overflow.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Reduces manual effort.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Saves water and electricity.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Stores water level and pump status in a </a:t>
            </a:r>
            <a:r>
              <a:rPr lang="en-IN" sz="2400" b="1" dirty="0"/>
              <a:t>MySQL database</a:t>
            </a:r>
            <a:r>
              <a:rPr lang="en-IN" sz="24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It provides a simple and reliable solution for homes, industries, and agriculture.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023358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31F5A-84AE-040E-95BF-BC4E4CD1DE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1337" y="34753"/>
            <a:ext cx="8753967" cy="1596177"/>
          </a:xfrm>
        </p:spPr>
        <p:txBody>
          <a:bodyPr>
            <a:normAutofit/>
          </a:bodyPr>
          <a:lstStyle/>
          <a:p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STATEMENTS AND OBJECTIVES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E9C1BAB6-3C60-3C5F-B780-298110ED7F8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9B02BDB2-D43A-6B11-5746-16BF00EB21B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2AF056-B961-4CA3-932E-FA731609A4C5}"/>
              </a:ext>
            </a:extLst>
          </p:cNvPr>
          <p:cNvSpPr txBox="1"/>
          <p:nvPr/>
        </p:nvSpPr>
        <p:spPr>
          <a:xfrm>
            <a:off x="1591337" y="1752850"/>
            <a:ext cx="8058778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Problem Statement: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Manual water level monitoring is time-consuming.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Water overflow causes wastage.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Pumps may run unnecessarily.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No proper record of water level. </a:t>
            </a:r>
          </a:p>
          <a:p>
            <a:r>
              <a:rPr lang="en-IN" sz="2400" b="1" dirty="0"/>
              <a:t>Objectives:</a:t>
            </a:r>
          </a:p>
          <a:p>
            <a:r>
              <a:rPr lang="en-IN" sz="2400" b="1" dirty="0"/>
              <a:t>For Monitoring Module:</a:t>
            </a:r>
            <a:endParaRPr lang="en-I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Measure water level accurately.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Monitor the tank continuously. </a:t>
            </a:r>
          </a:p>
          <a:p>
            <a:r>
              <a:rPr lang="en-IN" sz="2400" b="1" dirty="0"/>
              <a:t>For Control Module:</a:t>
            </a:r>
            <a:endParaRPr lang="en-I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Automatically control the pump.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Store water level and pump status in the database.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32634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7AD2A-9CCC-E46A-DA4D-C48F0067A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0245" y="-34062"/>
            <a:ext cx="8647835" cy="1596177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EXISTING SYSTEM AND PROPOSED SYSTEMS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1E5CEF22-EC8A-DE2B-30B5-CDCB9DCDC56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C144D568-2B05-06E6-390C-CF5E0C0A832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E00BD1-9C7A-C46E-0FEA-A94BF3C8E0E8}"/>
              </a:ext>
            </a:extLst>
          </p:cNvPr>
          <p:cNvSpPr txBox="1"/>
          <p:nvPr/>
        </p:nvSpPr>
        <p:spPr>
          <a:xfrm>
            <a:off x="1791956" y="1714086"/>
            <a:ext cx="9348875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Existing System: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Water level is checked manually.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Pump operation depends on the user's observation.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Water overflow and shortages may occur.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No automatic monitoring or database storage.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Requires continuous human intervention. </a:t>
            </a:r>
          </a:p>
          <a:p>
            <a:r>
              <a:rPr lang="en-IN" sz="2400" b="1" dirty="0"/>
              <a:t>Proposed System: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Uses an </a:t>
            </a:r>
            <a:r>
              <a:rPr lang="en-IN" sz="2400" b="1" dirty="0"/>
              <a:t>ultrasonic sensor</a:t>
            </a:r>
            <a:r>
              <a:rPr lang="en-IN" sz="2400" dirty="0"/>
              <a:t> and </a:t>
            </a:r>
            <a:r>
              <a:rPr lang="en-IN" sz="2400" b="1" dirty="0"/>
              <a:t>Arduino</a:t>
            </a:r>
            <a:r>
              <a:rPr lang="en-IN" sz="2400" dirty="0"/>
              <a:t> for automatic monitoring.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Automatically controls the water pump using a relay module.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Stores water level and pump status in a </a:t>
            </a:r>
            <a:r>
              <a:rPr lang="en-IN" sz="2400" b="1" dirty="0"/>
              <a:t>MySQL database</a:t>
            </a:r>
            <a:r>
              <a:rPr lang="en-IN" sz="24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Reduces water wastage and manual effort.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Provides efficient and reliable water management.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305432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D57B2-9B50-54BF-ED73-EC361B94B3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30561" y="169540"/>
            <a:ext cx="10515600" cy="1325563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3C0D3D82-9612-4426-F7AE-F04F95584FBE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1AEA5C16-CBD2-1466-78F3-63C9BD714116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39C7301-BB1E-DA57-8373-E9908F4FC8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8396" y="1222419"/>
            <a:ext cx="8855207" cy="5121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7788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8EFF3-6172-1B79-3949-23195CCB12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5258" y="137852"/>
            <a:ext cx="10515600" cy="1325563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USED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7144C4F6-98DC-2A58-4871-9C574D0C878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D1CE48B6-5C15-D443-8FF2-0AD1F548843F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BB74A74-D0F5-FF6B-96AC-EAC67BC86F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786" y="1645776"/>
            <a:ext cx="1737511" cy="16613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3A2B4B-3B87-8BE6-0358-E696538CC1E9}"/>
              </a:ext>
            </a:extLst>
          </p:cNvPr>
          <p:cNvSpPr txBox="1"/>
          <p:nvPr/>
        </p:nvSpPr>
        <p:spPr>
          <a:xfrm>
            <a:off x="738962" y="3114866"/>
            <a:ext cx="20473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err="1"/>
              <a:t>arduino</a:t>
            </a:r>
            <a:r>
              <a:rPr lang="en-IN" dirty="0"/>
              <a:t> uno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E118B6-436B-269C-FDB6-C24CE6EF2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17297" y="1346574"/>
            <a:ext cx="2972058" cy="16155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92F0519-F592-E073-4511-B275D47BEC98}"/>
              </a:ext>
            </a:extLst>
          </p:cNvPr>
          <p:cNvSpPr txBox="1"/>
          <p:nvPr/>
        </p:nvSpPr>
        <p:spPr>
          <a:xfrm>
            <a:off x="2593258" y="3114866"/>
            <a:ext cx="29642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HC-SR04 Ultrasonic Sensor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0D32096-8A6A-B017-F393-57ACB5E97B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18515" y="1561367"/>
            <a:ext cx="1882303" cy="145554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AF586AC-710C-27DE-2779-056F4468EC16}"/>
              </a:ext>
            </a:extLst>
          </p:cNvPr>
          <p:cNvSpPr txBox="1"/>
          <p:nvPr/>
        </p:nvSpPr>
        <p:spPr>
          <a:xfrm>
            <a:off x="5557520" y="3114865"/>
            <a:ext cx="25961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Relay Module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3EDEB33-9EE8-FB40-63CE-37D099C6C27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6237" y="1463415"/>
            <a:ext cx="2039067" cy="1615580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C73BD43-97CA-3036-645D-B2E3BB069B3A}"/>
              </a:ext>
            </a:extLst>
          </p:cNvPr>
          <p:cNvSpPr txBox="1"/>
          <p:nvPr/>
        </p:nvSpPr>
        <p:spPr>
          <a:xfrm>
            <a:off x="8026400" y="3124342"/>
            <a:ext cx="3050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/>
              <a:t>Mini DC Water Pump</a:t>
            </a:r>
            <a:endParaRPr lang="en-IN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B940A8C-D063-A5B1-77D5-7EA60B1F11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4385" y="3672470"/>
            <a:ext cx="2491893" cy="190130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345C559A-D354-FAD4-6CF0-987C9F0B5E08}"/>
              </a:ext>
            </a:extLst>
          </p:cNvPr>
          <p:cNvSpPr txBox="1"/>
          <p:nvPr/>
        </p:nvSpPr>
        <p:spPr>
          <a:xfrm>
            <a:off x="407393" y="5724939"/>
            <a:ext cx="2710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Breadboard 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3FA90D28-32CD-BE08-7217-715BF0565A2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70560" y="3769958"/>
            <a:ext cx="1386960" cy="1562235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9DED1CDB-A902-5188-5085-4D00064446BF}"/>
              </a:ext>
            </a:extLst>
          </p:cNvPr>
          <p:cNvSpPr txBox="1"/>
          <p:nvPr/>
        </p:nvSpPr>
        <p:spPr>
          <a:xfrm>
            <a:off x="3482138" y="5724939"/>
            <a:ext cx="2852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Jumper Wires 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0F59ED6-573B-D5C2-356D-A60F22E8D2F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59666" y="3685834"/>
            <a:ext cx="2149026" cy="170875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F825D04F-D18E-58E7-C776-32A2733366F1}"/>
              </a:ext>
            </a:extLst>
          </p:cNvPr>
          <p:cNvSpPr txBox="1"/>
          <p:nvPr/>
        </p:nvSpPr>
        <p:spPr>
          <a:xfrm>
            <a:off x="5923280" y="5872480"/>
            <a:ext cx="3050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USB Cable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B09CFAD-BFED-8F84-507B-1F12539E0A69}"/>
              </a:ext>
            </a:extLst>
          </p:cNvPr>
          <p:cNvSpPr txBox="1"/>
          <p:nvPr/>
        </p:nvSpPr>
        <p:spPr>
          <a:xfrm>
            <a:off x="8916844" y="5872480"/>
            <a:ext cx="391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Power Supply (5V/12V) 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23A8D3C8-F0B3-D44C-B1C0-861B4BAC242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916844" y="3805455"/>
            <a:ext cx="2637905" cy="1627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9094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C5E80-F1A1-BE5D-457B-694D2D0F7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18071" y="325796"/>
            <a:ext cx="10515600" cy="1325563"/>
          </a:xfrm>
        </p:spPr>
        <p:txBody>
          <a:bodyPr/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-1: Water Level Monitoring</a:t>
            </a:r>
            <a:br>
              <a:rPr lang="en-IN" b="1" dirty="0"/>
            </a:br>
            <a:endParaRPr lang="en-IN" b="1" dirty="0"/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A0705058-BE03-734D-C914-DEED51AC3189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1C1554A0-F0EB-E459-CE07-3278D34EB2ED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C927683-2EDB-9006-93AC-A282083F2CDF}"/>
              </a:ext>
            </a:extLst>
          </p:cNvPr>
          <p:cNvSpPr txBox="1"/>
          <p:nvPr/>
        </p:nvSpPr>
        <p:spPr>
          <a:xfrm>
            <a:off x="1602658" y="1651359"/>
            <a:ext cx="8742646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This module continuously monitors the water level using an </a:t>
            </a:r>
            <a:r>
              <a:rPr lang="en-IN" sz="2400" b="1" dirty="0"/>
              <a:t>HC-SR04 Ultrasonic Sensor</a:t>
            </a:r>
            <a:r>
              <a:rPr lang="en-IN" sz="24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It measures the distance between the sensor and the water surface.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The measured data is sent to the </a:t>
            </a:r>
            <a:r>
              <a:rPr lang="en-IN" sz="2400" b="1" dirty="0"/>
              <a:t>Arduino Uno</a:t>
            </a:r>
            <a:r>
              <a:rPr lang="en-IN" sz="2400" dirty="0"/>
              <a:t> for processing.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It detects whether the water level is </a:t>
            </a:r>
            <a:r>
              <a:rPr lang="en-IN" sz="2400" b="1" dirty="0"/>
              <a:t>Low, Medium, or Full</a:t>
            </a:r>
            <a:r>
              <a:rPr lang="en-IN" sz="24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It helps prevent water overflow and water shortage. </a:t>
            </a:r>
          </a:p>
          <a:p>
            <a:r>
              <a:rPr lang="en-IN" sz="2400" b="1" dirty="0"/>
              <a:t>Key Functions: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Measures water level.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Sends sensor data to Arduino.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Detects low and full tank conditions.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Provides accurate real-time monitoring.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17442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E53ADC-1AD3-5497-C0A3-A4CC4B3A62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2405" y="404019"/>
            <a:ext cx="10515600" cy="1325563"/>
          </a:xfrm>
        </p:spPr>
        <p:txBody>
          <a:bodyPr>
            <a:normAutofit/>
          </a:bodyPr>
          <a:lstStyle/>
          <a:p>
            <a:r>
              <a:rPr lang="en-IN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-2: Pump Control and Database Management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D4BFE879-C676-2C20-F8CD-E5CE2B214A4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E27595B6-E0B7-858F-D277-400F3B5D57E9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01B3FA3-F37E-BC64-E076-F6BEEA0A1E0E}"/>
              </a:ext>
            </a:extLst>
          </p:cNvPr>
          <p:cNvSpPr txBox="1"/>
          <p:nvPr/>
        </p:nvSpPr>
        <p:spPr>
          <a:xfrm>
            <a:off x="1373914" y="1739423"/>
            <a:ext cx="888289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This module automatically controls the </a:t>
            </a:r>
            <a:r>
              <a:rPr lang="en-IN" sz="2400" b="1" dirty="0"/>
              <a:t>water pump</a:t>
            </a:r>
            <a:r>
              <a:rPr lang="en-IN" sz="2400" dirty="0"/>
              <a:t> using a </a:t>
            </a:r>
            <a:r>
              <a:rPr lang="en-IN" sz="2400" b="1" dirty="0"/>
              <a:t>Relay Module</a:t>
            </a:r>
            <a:r>
              <a:rPr lang="en-IN" sz="24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The Arduino turns the </a:t>
            </a:r>
            <a:r>
              <a:rPr lang="en-IN" sz="2400" b="1" dirty="0"/>
              <a:t>pump ON</a:t>
            </a:r>
            <a:r>
              <a:rPr lang="en-IN" sz="2400" dirty="0"/>
              <a:t> when the water level is low and </a:t>
            </a:r>
            <a:r>
              <a:rPr lang="en-IN" sz="2400" b="1" dirty="0"/>
              <a:t>OFF</a:t>
            </a:r>
            <a:r>
              <a:rPr lang="en-IN" sz="2400" dirty="0"/>
              <a:t> when the tank is full.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Water level, pump status, date, and time are stored in a </a:t>
            </a:r>
            <a:r>
              <a:rPr lang="en-IN" sz="2400" b="1" dirty="0"/>
              <a:t>MySQL database</a:t>
            </a:r>
            <a:r>
              <a:rPr lang="en-IN" sz="24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The stored data can be used for monitoring and analysis. </a:t>
            </a:r>
          </a:p>
          <a:p>
            <a:r>
              <a:rPr lang="en-IN" sz="2400" b="1" dirty="0"/>
              <a:t>Key Functions: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Controls pump automatically.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Stores water level and pump status.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Maintains date and time records.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Supports efficient water management.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614399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17D344-B343-1E69-23E0-AD3B418E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5080" y="222885"/>
            <a:ext cx="10515600" cy="1325563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CF18E-36A8-58B3-030C-E83AEADE734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45854" y="1899732"/>
            <a:ext cx="10363826" cy="5669468"/>
          </a:xfrm>
        </p:spPr>
        <p:txBody>
          <a:bodyPr>
            <a:normAutofit/>
          </a:bodyPr>
          <a:lstStyle/>
          <a:p>
            <a:r>
              <a:rPr lang="en-IN" sz="2400" dirty="0"/>
              <a:t>The ultrasonic sensor accurately detects the water level in the tank. </a:t>
            </a:r>
          </a:p>
          <a:p>
            <a:r>
              <a:rPr lang="en-IN" sz="2400" dirty="0"/>
              <a:t>The Arduino automatically controls the water pump based on the water level. </a:t>
            </a:r>
          </a:p>
          <a:p>
            <a:r>
              <a:rPr lang="en-IN" sz="2400" dirty="0"/>
              <a:t>The relay switches the pump </a:t>
            </a:r>
            <a:r>
              <a:rPr lang="en-IN" sz="2400" b="1" dirty="0"/>
              <a:t>ON</a:t>
            </a:r>
            <a:r>
              <a:rPr lang="en-IN" sz="2400" dirty="0"/>
              <a:t> when the water level is low and </a:t>
            </a:r>
            <a:r>
              <a:rPr lang="en-IN" sz="2400" b="1" dirty="0"/>
              <a:t>OFF</a:t>
            </a:r>
            <a:r>
              <a:rPr lang="en-IN" sz="2400" dirty="0"/>
              <a:t> when the tank is full.</a:t>
            </a:r>
          </a:p>
          <a:p>
            <a:r>
              <a:rPr lang="en-IN" sz="2400" dirty="0"/>
              <a:t> Water level and pump status are stored in the </a:t>
            </a:r>
            <a:r>
              <a:rPr lang="en-IN" sz="2400" b="1" dirty="0"/>
              <a:t>MySQL database</a:t>
            </a:r>
            <a:r>
              <a:rPr lang="en-IN" sz="2400" dirty="0"/>
              <a:t>. </a:t>
            </a:r>
          </a:p>
          <a:p>
            <a:r>
              <a:rPr lang="en-IN" sz="2400" dirty="0"/>
              <a:t>The system helps prevent water overflow and reduces water wastage. </a:t>
            </a:r>
          </a:p>
          <a:p>
            <a:r>
              <a:rPr lang="en-IN" sz="2400" dirty="0"/>
              <a:t>The project minimizes manual monitoring and improves water management.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8F64C621-C2E6-6D95-04EA-631A200FDBA7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EC996F2A-F31E-37F4-DB40-7E71E587D8D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45678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3AC72-B4BD-6B63-EC4E-69F4306B45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08987" y="96325"/>
            <a:ext cx="10515600" cy="1325563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57EF58-92C6-AF7A-1BA7-9DB5EFA20AE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833D6B53-396B-6736-8135-0607F2AEEB14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C0CDF7E2-C968-B79F-4390-7F37B527BFFE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9518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CC72-2A75-70F9-7998-2EA8D3FF6D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0626" y="0"/>
            <a:ext cx="10515600" cy="1325563"/>
          </a:xfrm>
        </p:spPr>
        <p:txBody>
          <a:bodyPr/>
          <a:lstStyle/>
          <a:p>
            <a:r>
              <a:rPr lang="en-IN" b="1">
                <a:latin typeface="Times New Roman" panose="02020603050405020304" pitchFamily="18" charset="0"/>
                <a:cs typeface="Times New Roman" panose="02020603050405020304" pitchFamily="18" charset="0"/>
              </a:rPr>
              <a:t>Comparision RESULTS </a:t>
            </a:r>
            <a:endParaRPr lang="en-IN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F3AE56B2-A8A8-D152-73E2-4559BEBC6779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70833835"/>
              </p:ext>
            </p:extLst>
          </p:nvPr>
        </p:nvGraphicFramePr>
        <p:xfrm>
          <a:off x="909320" y="1931128"/>
          <a:ext cx="10373360" cy="4163826"/>
        </p:xfrm>
        <a:graphic>
          <a:graphicData uri="http://schemas.openxmlformats.org/drawingml/2006/table">
            <a:tbl>
              <a:tblPr/>
              <a:tblGrid>
                <a:gridCol w="3464560">
                  <a:extLst>
                    <a:ext uri="{9D8B030D-6E8A-4147-A177-3AD203B41FA5}">
                      <a16:colId xmlns:a16="http://schemas.microsoft.com/office/drawing/2014/main" val="2620634417"/>
                    </a:ext>
                  </a:extLst>
                </a:gridCol>
                <a:gridCol w="3454400">
                  <a:extLst>
                    <a:ext uri="{9D8B030D-6E8A-4147-A177-3AD203B41FA5}">
                      <a16:colId xmlns:a16="http://schemas.microsoft.com/office/drawing/2014/main" val="2198457391"/>
                    </a:ext>
                  </a:extLst>
                </a:gridCol>
                <a:gridCol w="3454400">
                  <a:extLst>
                    <a:ext uri="{9D8B030D-6E8A-4147-A177-3AD203B41FA5}">
                      <a16:colId xmlns:a16="http://schemas.microsoft.com/office/drawing/2014/main" val="800371775"/>
                    </a:ext>
                  </a:extLst>
                </a:gridCol>
              </a:tblGrid>
              <a:tr h="360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/>
                        <a:t>Parameter</a:t>
                      </a:r>
                      <a:endParaRPr lang="en-IN" sz="2000"/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/>
                        <a:t>Existing System</a:t>
                      </a:r>
                      <a:endParaRPr lang="en-IN" sz="2000"/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1"/>
                        <a:t>Proposed System</a:t>
                      </a:r>
                      <a:endParaRPr lang="en-IN" sz="2000"/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1007446"/>
                  </a:ext>
                </a:extLst>
              </a:tr>
              <a:tr h="360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Water Level Monitoring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Manual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Automatic using Ultrasonic Sensor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0927265"/>
                  </a:ext>
                </a:extLst>
              </a:tr>
              <a:tr h="360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Pump Control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Manual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Automatic using Relay &amp; Arduino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9675042"/>
                  </a:ext>
                </a:extLst>
              </a:tr>
              <a:tr h="360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Water Overflow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May occur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Prevented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4966369"/>
                  </a:ext>
                </a:extLst>
              </a:tr>
              <a:tr h="360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Water Wastage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High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Low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3731839"/>
                  </a:ext>
                </a:extLst>
              </a:tr>
              <a:tr h="360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Data Storage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No records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Stored in MySQL Database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548819"/>
                  </a:ext>
                </a:extLst>
              </a:tr>
              <a:tr h="360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Accuracy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Moderate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High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1460538"/>
                  </a:ext>
                </a:extLst>
              </a:tr>
              <a:tr h="360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Human Effort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High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Low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112971"/>
                  </a:ext>
                </a:extLst>
              </a:tr>
              <a:tr h="36045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Efficiency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Low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High</a:t>
                      </a:r>
                    </a:p>
                  </a:txBody>
                  <a:tcPr marL="90115" marR="90115" marT="45057" marB="4505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5218009"/>
                  </a:ext>
                </a:extLst>
              </a:tr>
            </a:tbl>
          </a:graphicData>
        </a:graphic>
      </p:graphicFrame>
      <p:pic>
        <p:nvPicPr>
          <p:cNvPr id="5" name="object 3">
            <a:extLst>
              <a:ext uri="{FF2B5EF4-FFF2-40B4-BE49-F238E27FC236}">
                <a16:creationId xmlns:a16="http://schemas.microsoft.com/office/drawing/2014/main" id="{74F5DDA8-581A-A40D-6F4B-44435F496745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AE4699D1-7619-B12F-7E82-B4B4E364D55E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5172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29A6D8-7B5D-CABE-5C6B-8F7B0F8ABD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1232" y="101245"/>
            <a:ext cx="10515600" cy="1325563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IEEE STANDARDS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DBFCABA4-3852-8452-1AAF-ED79AA9A82A6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B9B7BC89-57A5-B0CA-5102-CB947D92BCD6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1F7C8E-4E13-1307-2BBC-7CB483A67CDD}"/>
              </a:ext>
            </a:extLst>
          </p:cNvPr>
          <p:cNvSpPr txBox="1"/>
          <p:nvPr/>
        </p:nvSpPr>
        <p:spPr>
          <a:xfrm>
            <a:off x="1462405" y="1426808"/>
            <a:ext cx="8750710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b="1" dirty="0"/>
              <a:t>1. Sensor Interface Standards</a:t>
            </a:r>
          </a:p>
          <a:p>
            <a:r>
              <a:rPr lang="en-IN" sz="2400" b="1" dirty="0"/>
              <a:t>IEEE 1451</a:t>
            </a:r>
            <a:r>
              <a:rPr lang="en-IN" sz="2400" dirty="0"/>
              <a:t> – Standard for smart sensors and transducers used for accurate water level measurement. </a:t>
            </a:r>
          </a:p>
          <a:p>
            <a:r>
              <a:rPr lang="en-IN" sz="2400" b="1" dirty="0"/>
              <a:t>2. IoT and Smart System Standards</a:t>
            </a:r>
          </a:p>
          <a:p>
            <a:r>
              <a:rPr lang="en-IN" sz="2400" b="1" dirty="0"/>
              <a:t>IEEE 2413</a:t>
            </a:r>
            <a:r>
              <a:rPr lang="en-IN" sz="2400" dirty="0"/>
              <a:t> – Provides a standard architecture for IoT-based monitoring and smart water management systems. </a:t>
            </a:r>
          </a:p>
          <a:p>
            <a:r>
              <a:rPr lang="en-IN" sz="2400" b="1" dirty="0"/>
              <a:t>3. Communication Standards</a:t>
            </a:r>
          </a:p>
          <a:p>
            <a:r>
              <a:rPr lang="en-IN" sz="2400" b="1" dirty="0"/>
              <a:t>IEEE 802.3 (Ethernet)</a:t>
            </a:r>
            <a:r>
              <a:rPr lang="en-IN" sz="2400" dirty="0"/>
              <a:t> or </a:t>
            </a:r>
            <a:r>
              <a:rPr lang="en-IN" sz="2400" b="1" dirty="0"/>
              <a:t>IEEE 802.11 (Wi-Fi)</a:t>
            </a:r>
            <a:r>
              <a:rPr lang="en-IN" sz="2400" dirty="0"/>
              <a:t> – Supports communication between the monitoring system and database/server (if network-enabled). </a:t>
            </a:r>
          </a:p>
          <a:p>
            <a:r>
              <a:rPr lang="en-IN" sz="2400" b="1" dirty="0"/>
              <a:t>4. Electrical and Safety Standards</a:t>
            </a:r>
          </a:p>
          <a:p>
            <a:r>
              <a:rPr lang="en-IN" sz="2400" b="1" dirty="0"/>
              <a:t>IEEE C37 Series</a:t>
            </a:r>
            <a:r>
              <a:rPr lang="en-IN" sz="2400" dirty="0"/>
              <a:t> – Provides electrical safety and protection guidelines for control systems and relay operations.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37353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67E1-A3F5-4975-33A2-A437CC9A7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47104" y="137852"/>
            <a:ext cx="10515600" cy="1325563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SDG CONTRIBUTION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2B26D3E0-04E1-DEED-E958-8EEEF530744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827DF3C0-82F4-EE01-CA71-5874952EFB2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FBA2370-F4A5-7217-1E90-F08D6E5057D6}"/>
              </a:ext>
            </a:extLst>
          </p:cNvPr>
          <p:cNvSpPr txBox="1"/>
          <p:nvPr/>
        </p:nvSpPr>
        <p:spPr>
          <a:xfrm>
            <a:off x="1720645" y="1641987"/>
            <a:ext cx="9075174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/>
              <a:t>SDG 6 – Clean Water and Sanitation</a:t>
            </a:r>
          </a:p>
          <a:p>
            <a:r>
              <a:rPr lang="en-IN" sz="2400" dirty="0"/>
              <a:t>The project helps conserve water by automatically monitoring the water level and preventing tank overflow, ensuring efficient use of water resources.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/>
              <a:t> SDG 9 – Industry, Innovation, and Infrastructure</a:t>
            </a:r>
          </a:p>
          <a:p>
            <a:r>
              <a:rPr lang="en-IN" sz="2400" dirty="0"/>
              <a:t>The system integrates </a:t>
            </a:r>
            <a:r>
              <a:rPr lang="en-IN" sz="2400" b="1" dirty="0"/>
              <a:t>Arduino, sensors, automation, and database technology</a:t>
            </a:r>
            <a:r>
              <a:rPr lang="en-IN" sz="2400" dirty="0"/>
              <a:t> to provide a smart and reliable water management solution.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b="1" dirty="0"/>
              <a:t> SDG 12 – Responsible Consumption and Production</a:t>
            </a:r>
          </a:p>
          <a:p>
            <a:r>
              <a:rPr lang="en-IN" sz="2400" dirty="0"/>
              <a:t>The automatic pump control minimizes water wastage and electricity consumption by operating the pump only when required, promoting responsible resource usage.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00362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80887-8A1B-FAD2-0E0B-18E0BD1C0F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8213" y="276634"/>
            <a:ext cx="10515600" cy="1325563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D5D33890-C971-6351-587C-2F116A0BA8FC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E63C0C3C-6455-89E9-4EB4-A0E5596893F1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0C8B384-3E42-E159-19EC-EE9956D00096}"/>
              </a:ext>
            </a:extLst>
          </p:cNvPr>
          <p:cNvSpPr txBox="1"/>
          <p:nvPr/>
        </p:nvSpPr>
        <p:spPr>
          <a:xfrm>
            <a:off x="1609888" y="2005780"/>
            <a:ext cx="915971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The system depends on the accuracy of the </a:t>
            </a:r>
            <a:r>
              <a:rPr lang="en-IN" sz="2400" b="1" dirty="0"/>
              <a:t>ultrasonic sensor</a:t>
            </a:r>
            <a:r>
              <a:rPr lang="en-IN" sz="2400" dirty="0"/>
              <a:t> for measuring water levels.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Sensor readings may be affected by </a:t>
            </a:r>
            <a:r>
              <a:rPr lang="en-IN" sz="2400" b="1" dirty="0"/>
              <a:t>water waves, foam, or obstacles</a:t>
            </a:r>
            <a:r>
              <a:rPr lang="en-IN" sz="2400" dirty="0"/>
              <a:t> inside the tank.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 A </a:t>
            </a:r>
            <a:r>
              <a:rPr lang="en-IN" sz="2400" b="1" dirty="0"/>
              <a:t>continuous power supply</a:t>
            </a:r>
            <a:r>
              <a:rPr lang="en-IN" sz="2400" dirty="0"/>
              <a:t> is required for uninterrupted operation.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 The current system is designed to </a:t>
            </a:r>
            <a:r>
              <a:rPr lang="en-IN" sz="2400" b="1" dirty="0"/>
              <a:t>monitor only a single water tank</a:t>
            </a:r>
            <a:r>
              <a:rPr lang="en-IN" sz="2400" dirty="0"/>
              <a:t>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Data is stored in a </a:t>
            </a:r>
            <a:r>
              <a:rPr lang="en-IN" sz="2400" b="1" dirty="0"/>
              <a:t>local MySQL database</a:t>
            </a:r>
            <a:r>
              <a:rPr lang="en-IN" sz="2400" dirty="0"/>
              <a:t>, making remote access unavailable without IoT integration.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 Regular </a:t>
            </a:r>
            <a:r>
              <a:rPr lang="en-IN" sz="2400" b="1" dirty="0"/>
              <a:t>maintenance of the sensor, relay, and water pump</a:t>
            </a:r>
            <a:r>
              <a:rPr lang="en-IN" sz="2400" dirty="0"/>
              <a:t> is required to ensure reliable performance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815764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792D6-44BE-400F-8510-0A36A0F41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0" y="169540"/>
            <a:ext cx="10515600" cy="1325563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2D3C5F-DEF7-89EE-65ED-0D53026E1BC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36320" y="1798132"/>
            <a:ext cx="10638146" cy="4023548"/>
          </a:xfrm>
        </p:spPr>
        <p:txBody>
          <a:bodyPr>
            <a:normAutofit lnSpcReduction="10000"/>
          </a:bodyPr>
          <a:lstStyle/>
          <a:p>
            <a:r>
              <a:rPr lang="en-IN" dirty="0"/>
              <a:t>The ultrasonic sensor accurately detects the water level in the tank. </a:t>
            </a:r>
          </a:p>
          <a:p>
            <a:r>
              <a:rPr lang="en-IN" dirty="0"/>
              <a:t>The Arduino automatically controls the water pump based on the water level. </a:t>
            </a:r>
          </a:p>
          <a:p>
            <a:r>
              <a:rPr lang="en-IN" dirty="0"/>
              <a:t>The relay switches the pump </a:t>
            </a:r>
            <a:r>
              <a:rPr lang="en-IN" b="1" dirty="0"/>
              <a:t>ON</a:t>
            </a:r>
            <a:r>
              <a:rPr lang="en-IN" dirty="0"/>
              <a:t> when the water level is low and </a:t>
            </a:r>
            <a:r>
              <a:rPr lang="en-IN" b="1" dirty="0"/>
              <a:t>OFF</a:t>
            </a:r>
            <a:r>
              <a:rPr lang="en-IN" dirty="0"/>
              <a:t> when the tank is full.</a:t>
            </a:r>
          </a:p>
          <a:p>
            <a:r>
              <a:rPr lang="en-IN" dirty="0"/>
              <a:t> Water level and pump status are stored in the </a:t>
            </a:r>
            <a:r>
              <a:rPr lang="en-IN" b="1" dirty="0"/>
              <a:t>MySQL database</a:t>
            </a:r>
            <a:r>
              <a:rPr lang="en-IN" dirty="0"/>
              <a:t>. </a:t>
            </a:r>
          </a:p>
          <a:p>
            <a:r>
              <a:rPr lang="en-IN" dirty="0"/>
              <a:t>The system helps prevent water overflow and reduces water wastage.</a:t>
            </a:r>
          </a:p>
          <a:p>
            <a:r>
              <a:rPr lang="en-IN" dirty="0"/>
              <a:t> The project minimizes manual monitoring and improves water management.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8B038EF6-1533-6B6B-0B3A-7D6BD12B732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002B873D-9688-B3AB-15C1-05DFA3084FFF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46502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A77C7-E5B0-9DE9-18BE-AF5C5D43C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10840" y="273685"/>
            <a:ext cx="10515600" cy="1325563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Enchancement 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79830ADB-D299-81E5-22FB-DC5C4BBDCEE0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6F62BABB-F087-2DC8-B15D-723D615FBF92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6334C5-BFF2-BFBD-694A-18E9A1592339}"/>
              </a:ext>
            </a:extLst>
          </p:cNvPr>
          <p:cNvSpPr txBox="1"/>
          <p:nvPr/>
        </p:nvSpPr>
        <p:spPr>
          <a:xfrm>
            <a:off x="1534160" y="2153920"/>
            <a:ext cx="974344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Integrate </a:t>
            </a:r>
            <a:r>
              <a:rPr lang="en-IN" sz="2400" b="1" dirty="0"/>
              <a:t>IoT</a:t>
            </a:r>
            <a:r>
              <a:rPr lang="en-IN" sz="2400" dirty="0"/>
              <a:t> for remote monitoring and control through a mobile app.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Store data in a </a:t>
            </a:r>
            <a:r>
              <a:rPr lang="en-IN" sz="2400" b="1" dirty="0"/>
              <a:t>cloud database</a:t>
            </a:r>
            <a:r>
              <a:rPr lang="en-IN" sz="2400" dirty="0"/>
              <a:t> for real-time access and analysis.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 Add </a:t>
            </a:r>
            <a:r>
              <a:rPr lang="en-IN" sz="2400" b="1" dirty="0"/>
              <a:t>SMS/Email notifications</a:t>
            </a:r>
            <a:r>
              <a:rPr lang="en-IN" sz="2400" dirty="0"/>
              <a:t> when the tank is full or water level is low.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Support monitoring of </a:t>
            </a:r>
            <a:r>
              <a:rPr lang="en-IN" sz="2400" b="1" dirty="0"/>
              <a:t>multiple water tanks</a:t>
            </a:r>
            <a:r>
              <a:rPr lang="en-IN" sz="2400" dirty="0"/>
              <a:t> from a single system.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Use </a:t>
            </a:r>
            <a:r>
              <a:rPr lang="en-IN" sz="2400" b="1" dirty="0"/>
              <a:t>AI-based water usage prediction</a:t>
            </a:r>
            <a:r>
              <a:rPr lang="en-IN" sz="2400" dirty="0"/>
              <a:t> to optimize pump operation and save water.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Integrate </a:t>
            </a:r>
            <a:r>
              <a:rPr lang="en-IN" sz="2400" b="1" dirty="0"/>
              <a:t>solar power</a:t>
            </a:r>
            <a:r>
              <a:rPr lang="en-IN" sz="2400" dirty="0"/>
              <a:t> to make the system more energy-efficient and eco-friendly.</a:t>
            </a:r>
          </a:p>
        </p:txBody>
      </p:sp>
    </p:spTree>
    <p:extLst>
      <p:ext uri="{BB962C8B-B14F-4D97-AF65-F5344CB8AC3E}">
        <p14:creationId xmlns:p14="http://schemas.microsoft.com/office/powerpoint/2010/main" val="228523943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88701-9A17-4A1B-C051-1E17A6545E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4600" y="304165"/>
            <a:ext cx="10515600" cy="1325563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CC541F3F-9AC5-038F-7E69-8AF75B146E1F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CC247508-D10A-455C-3018-19B38035F5CA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74547FD-56C9-6185-374D-3C18E1C65D43}"/>
              </a:ext>
            </a:extLst>
          </p:cNvPr>
          <p:cNvSpPr txBox="1"/>
          <p:nvPr/>
        </p:nvSpPr>
        <p:spPr>
          <a:xfrm>
            <a:off x="1280160" y="1629728"/>
            <a:ext cx="953008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The </a:t>
            </a:r>
            <a:r>
              <a:rPr lang="en-IN" sz="2400" b="1" dirty="0"/>
              <a:t>Water Tank Monitoring System</a:t>
            </a:r>
            <a:r>
              <a:rPr lang="en-IN" sz="2400" dirty="0"/>
              <a:t> provides an efficient and automated solution for monitoring water levels.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 It uses an </a:t>
            </a:r>
            <a:r>
              <a:rPr lang="en-IN" sz="2400" b="1" dirty="0"/>
              <a:t>ultrasonic sensor</a:t>
            </a:r>
            <a:r>
              <a:rPr lang="en-IN" sz="2400" dirty="0"/>
              <a:t> and </a:t>
            </a:r>
            <a:r>
              <a:rPr lang="en-IN" sz="2400" b="1" dirty="0"/>
              <a:t>Arduino</a:t>
            </a:r>
            <a:r>
              <a:rPr lang="en-IN" sz="2400" dirty="0"/>
              <a:t> to detect the water level and control the water pump automatically.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The system stores water level and pump status in a </a:t>
            </a:r>
            <a:r>
              <a:rPr lang="en-IN" sz="2400" b="1" dirty="0"/>
              <a:t>MySQL database</a:t>
            </a:r>
            <a:r>
              <a:rPr lang="en-IN" sz="2400" dirty="0"/>
              <a:t> for monitoring and analysis.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It helps prevent water overflow, reduces water wastage, and minimizes manual effort.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Overall, the project offers a </a:t>
            </a:r>
            <a:r>
              <a:rPr lang="en-IN" sz="2400" b="1" dirty="0"/>
              <a:t>reliable, cost-effective, and smart solution</a:t>
            </a:r>
            <a:r>
              <a:rPr lang="en-IN" sz="2400" dirty="0"/>
              <a:t> for efficient water management in homes, industries, and agricultural applications.</a:t>
            </a:r>
          </a:p>
        </p:txBody>
      </p:sp>
    </p:spTree>
    <p:extLst>
      <p:ext uri="{BB962C8B-B14F-4D97-AF65-F5344CB8AC3E}">
        <p14:creationId xmlns:p14="http://schemas.microsoft.com/office/powerpoint/2010/main" val="17123588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B8FA0-82B2-B83A-C7AD-E19637721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6920" y="96325"/>
            <a:ext cx="10515600" cy="1325563"/>
          </a:xfrm>
        </p:spPr>
        <p:txBody>
          <a:bodyPr/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E5A9DABE-99AB-1B2A-B273-64C6CF9628C3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FB183504-66EB-41A8-8B07-CA4092A7025C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015EEAE-2B63-3C39-308A-C667B8B159A8}"/>
              </a:ext>
            </a:extLst>
          </p:cNvPr>
          <p:cNvSpPr txBox="1"/>
          <p:nvPr/>
        </p:nvSpPr>
        <p:spPr>
          <a:xfrm>
            <a:off x="1462404" y="1788160"/>
            <a:ext cx="963231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Arduino. (2025). </a:t>
            </a:r>
            <a:r>
              <a:rPr lang="en-IN" sz="2400" i="1" dirty="0"/>
              <a:t>Arduino Documentation</a:t>
            </a:r>
            <a:r>
              <a:rPr lang="en-IN" sz="2400" dirty="0"/>
              <a:t>. </a:t>
            </a:r>
            <a:r>
              <a:rPr lang="en-IN" sz="2400" dirty="0">
                <a:hlinkClick r:id="rId4"/>
              </a:rPr>
              <a:t>https://docs.arduino.cc/</a:t>
            </a:r>
            <a:r>
              <a:rPr lang="en-IN" sz="2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Oracle. (2025). </a:t>
            </a:r>
            <a:r>
              <a:rPr lang="en-IN" sz="2400" i="1" dirty="0"/>
              <a:t>MySQL 8.4 Reference Manual</a:t>
            </a:r>
            <a:r>
              <a:rPr lang="en-IN" sz="2400" dirty="0"/>
              <a:t>. </a:t>
            </a:r>
            <a:r>
              <a:rPr lang="en-IN" sz="2400" dirty="0">
                <a:hlinkClick r:id="rId5"/>
              </a:rPr>
              <a:t>https://dev.mysql.com/doc/</a:t>
            </a:r>
            <a:endParaRPr lang="en-I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 IEEE. (2025). </a:t>
            </a:r>
            <a:r>
              <a:rPr lang="en-IN" sz="2400" i="1" dirty="0"/>
              <a:t>IEEE Xplore Digital Library</a:t>
            </a:r>
            <a:r>
              <a:rPr lang="en-IN" sz="2400" dirty="0"/>
              <a:t>. </a:t>
            </a:r>
            <a:r>
              <a:rPr lang="en-IN" sz="2400" dirty="0">
                <a:hlinkClick r:id="rId6"/>
              </a:rPr>
              <a:t>https://ieeexplore.ieee.org/</a:t>
            </a:r>
            <a:endParaRPr lang="en-I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 Components101.(2024). </a:t>
            </a:r>
            <a:r>
              <a:rPr lang="en-IN" sz="2400" i="1" dirty="0"/>
              <a:t>HC-SR04 Ultrasonic Sensor</a:t>
            </a:r>
            <a:r>
              <a:rPr lang="en-IN" sz="2400" dirty="0"/>
              <a:t>. </a:t>
            </a:r>
            <a:r>
              <a:rPr lang="en-IN" sz="2400" dirty="0">
                <a:hlinkClick r:id="rId7"/>
              </a:rPr>
              <a:t>https://components101.com/sensors/ultrasonic-sensor-working-pinout-datasheet</a:t>
            </a:r>
            <a:endParaRPr lang="en-I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 Circuit Digest. (2024). </a:t>
            </a:r>
            <a:r>
              <a:rPr lang="en-IN" sz="2400" i="1" dirty="0"/>
              <a:t>Arduino-Based Water Tank Level Monitoring System</a:t>
            </a:r>
            <a:r>
              <a:rPr lang="en-IN" sz="2400" dirty="0"/>
              <a:t>. </a:t>
            </a:r>
            <a:r>
              <a:rPr lang="en-IN" sz="2400" dirty="0">
                <a:hlinkClick r:id="rId8"/>
              </a:rPr>
              <a:t>https://circuitdigest.com/</a:t>
            </a:r>
            <a:endParaRPr lang="en-IN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400" dirty="0"/>
              <a:t> Electronics Hub. (2024). </a:t>
            </a:r>
            <a:r>
              <a:rPr lang="en-IN" sz="2400" i="1" dirty="0"/>
              <a:t>Water Level Monitoring using Arduino and Ultrasonic Sensor</a:t>
            </a:r>
            <a:r>
              <a:rPr lang="en-IN" sz="2400" dirty="0"/>
              <a:t>. </a:t>
            </a:r>
            <a:r>
              <a:rPr lang="en-IN" sz="2400" dirty="0">
                <a:hlinkClick r:id="rId9"/>
              </a:rPr>
              <a:t>https://www.electronicshub.org/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0171174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A08D7-82EF-A8CA-D983-DFE08E7C6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0298" y="2766218"/>
            <a:ext cx="10515600" cy="1325563"/>
          </a:xfrm>
        </p:spPr>
        <p:txBody>
          <a:bodyPr>
            <a:noAutofit/>
          </a:bodyPr>
          <a:lstStyle/>
          <a:p>
            <a:r>
              <a:rPr lang="en-IN" sz="11000" b="1" dirty="0">
                <a:latin typeface="Chiller" panose="04020404031007020602" pitchFamily="82" charset="0"/>
              </a:rPr>
              <a:t>THANK YOU</a:t>
            </a:r>
          </a:p>
        </p:txBody>
      </p:sp>
      <p:pic>
        <p:nvPicPr>
          <p:cNvPr id="5" name="object 3">
            <a:extLst>
              <a:ext uri="{FF2B5EF4-FFF2-40B4-BE49-F238E27FC236}">
                <a16:creationId xmlns:a16="http://schemas.microsoft.com/office/drawing/2014/main" id="{D8F7F045-1D9E-C2D0-BE8C-8BB9648BFD6B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6525" y="96325"/>
            <a:ext cx="1325880" cy="1335404"/>
          </a:xfrm>
          <a:prstGeom prst="rect">
            <a:avLst/>
          </a:prstGeom>
        </p:spPr>
      </p:pic>
      <p:pic>
        <p:nvPicPr>
          <p:cNvPr id="7" name="object 4">
            <a:extLst>
              <a:ext uri="{FF2B5EF4-FFF2-40B4-BE49-F238E27FC236}">
                <a16:creationId xmlns:a16="http://schemas.microsoft.com/office/drawing/2014/main" id="{C0E75560-C94C-AD51-A336-7C68691A1555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45304" y="169540"/>
            <a:ext cx="1591055" cy="126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9787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322</TotalTime>
  <Words>1460</Words>
  <Application>Microsoft Office PowerPoint</Application>
  <PresentationFormat>Widescreen</PresentationFormat>
  <Paragraphs>185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9" baseType="lpstr">
      <vt:lpstr>Algerian</vt:lpstr>
      <vt:lpstr>Arial</vt:lpstr>
      <vt:lpstr>Calibri</vt:lpstr>
      <vt:lpstr>Calibri Light</vt:lpstr>
      <vt:lpstr>Chiller</vt:lpstr>
      <vt:lpstr>Times New Roman</vt:lpstr>
      <vt:lpstr>Wingdings</vt:lpstr>
      <vt:lpstr>Office Theme</vt:lpstr>
      <vt:lpstr>PowerPoint Presentation</vt:lpstr>
      <vt:lpstr>INDEX</vt:lpstr>
      <vt:lpstr>ABSTRACT</vt:lpstr>
      <vt:lpstr>INTRODUCTION</vt:lpstr>
      <vt:lpstr>PROBLEM STATEMENTS AND OBJECTIVES</vt:lpstr>
      <vt:lpstr>EXISTING SYSTEM AND PROPOSED SYSTEMS</vt:lpstr>
      <vt:lpstr>METHODOLOGY</vt:lpstr>
      <vt:lpstr>HARDWARE USED</vt:lpstr>
      <vt:lpstr>Module -1: Water Level Monitoring </vt:lpstr>
      <vt:lpstr>Module -2: Pump Control and Database Management</vt:lpstr>
      <vt:lpstr>RESULTS</vt:lpstr>
      <vt:lpstr>Output </vt:lpstr>
      <vt:lpstr>Comparision RESULTS </vt:lpstr>
      <vt:lpstr>IEEE STANDARDS</vt:lpstr>
      <vt:lpstr>SDG CONTRIBUTION</vt:lpstr>
      <vt:lpstr>Limitations</vt:lpstr>
      <vt:lpstr>RESULTS </vt:lpstr>
      <vt:lpstr>Future Enchancement </vt:lpstr>
      <vt:lpstr>CONCLUSION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KOMMISETTY VENKATASAI CHANDANA</dc:creator>
  <cp:lastModifiedBy>priya yadav</cp:lastModifiedBy>
  <cp:revision>5</cp:revision>
  <dcterms:created xsi:type="dcterms:W3CDTF">2026-07-09T15:46:10Z</dcterms:created>
  <dcterms:modified xsi:type="dcterms:W3CDTF">2026-07-21T14:53:45Z</dcterms:modified>
</cp:coreProperties>
</file>